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dD7xY6LPJg2kVSG/KvHE8Cy/r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9396"/>
              </a:solidFill>
              <a:effectLst/>
            </c:spPr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Legitimate (71%)</c:v>
                </c:pt>
                <c:pt idx="1">
                  <c:v>Spam (29%)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3672</c:v>
                </c:pt>
                <c:pt idx="1">
                  <c:v>1500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ENRON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6000"/>
              <a:buFont typeface="Arial Black"/>
              <a:buNone/>
            </a:pPr>
            <a:r>
              <a:rPr b="1" i="0" lang="en-US" sz="6000" u="none" cap="none" strike="noStrike">
                <a:solidFill>
                  <a:srgbClr val="0A9396"/>
                </a:solidFill>
                <a:latin typeface="Arial Black"/>
                <a:ea typeface="Arial Black"/>
                <a:cs typeface="Arial Black"/>
                <a:sym typeface="Arial Black"/>
              </a:rPr>
              <a:t>SPAM FILTER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8346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A machine learning story — from raw emails to intelligent classification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Supervised ML  ·  EDA  ·  Logistic Regression  ·  KNN + PCA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The Problem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day, billions of emails flood inboxes — but not all of them belong there.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365760" y="1645920"/>
            <a:ext cx="2560320" cy="2560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365760" y="1828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65760" y="24688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3200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all email is spam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383280" y="1645920"/>
            <a:ext cx="2560320" cy="256032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383280" y="1828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383280" y="24688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Billions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383280" y="3200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dollars lost yearly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00800" y="1645920"/>
            <a:ext cx="2560320" cy="2560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400800" y="1828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0" y="24688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0" y="3200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filtering is impossible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We need a smarter solution — a model that learns what spam looks like.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Meet the Dataset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Enron Email Dataset — real emails from Enron employees, already converted to word frequencies.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365760" y="1508760"/>
            <a:ext cx="24688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4D2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365760" y="16002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5,172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65760" y="22402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emails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200400" y="1508760"/>
            <a:ext cx="24688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4D2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3200400" y="16002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2,565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200400" y="22402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Word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035040" y="1508760"/>
            <a:ext cx="24688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4D2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6035040" y="16002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035040" y="22402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" name="Google Shape;57;p3"/>
          <p:cNvGraphicFramePr/>
          <p:nvPr/>
        </p:nvGraphicFramePr>
        <p:xfrm>
          <a:off x="274320" y="2926080"/>
          <a:ext cx="4114800" cy="1920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8" name="Google Shape;58;p3"/>
          <p:cNvSpPr/>
          <p:nvPr/>
        </p:nvSpPr>
        <p:spPr>
          <a:xfrm>
            <a:off x="4754880" y="29260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54880" y="3383280"/>
            <a:ext cx="4114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row = one email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column = a word from all emails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Value = how many times that word appears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Prediction column = 0 (legit) or 1 (spam)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What the Data Tells Us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Some words scream SPAM. Others whisper Enron.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65760" y="1371600"/>
            <a:ext cx="3840480" cy="4572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365760" y="13716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SPAM indicators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65760" y="1920240"/>
            <a:ext cx="3840480" cy="438912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57200" y="192024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viagra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743200" y="192024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2107x more common in spam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65760" y="2423160"/>
            <a:ext cx="384048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57200" y="242316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pills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743200" y="242316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2107x more common in spam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65760" y="2926080"/>
            <a:ext cx="3840480" cy="438912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57200" y="292608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pharmacy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743200" y="292608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547x more common in spam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65760" y="3429000"/>
            <a:ext cx="384048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57200" y="342900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href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743200" y="342900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1267x more common in spam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65760" y="3931920"/>
            <a:ext cx="3840480" cy="438912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57200" y="393192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drugs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743200" y="393192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780x more common in spam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37760" y="1371600"/>
            <a:ext cx="3840480" cy="4572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937760" y="13716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LEGITIMATE indicators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937760" y="1920240"/>
            <a:ext cx="3840480" cy="438912"/>
          </a:xfrm>
          <a:prstGeom prst="rect">
            <a:avLst/>
          </a:prstGeom>
          <a:solidFill>
            <a:srgbClr val="F0FAFA"/>
          </a:solidFill>
          <a:ln cap="flat" cmpd="sng" w="12700">
            <a:solidFill>
              <a:srgbClr val="94D2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029200" y="192024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enron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583680" y="1920240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18807x more in legit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937760" y="2423160"/>
            <a:ext cx="384048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4D2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5029200" y="242316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daren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583680" y="2423160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5185x more in legit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937760" y="2926080"/>
            <a:ext cx="3840480" cy="438912"/>
          </a:xfrm>
          <a:prstGeom prst="rect">
            <a:avLst/>
          </a:prstGeom>
          <a:solidFill>
            <a:srgbClr val="F0FAFA"/>
          </a:solidFill>
          <a:ln cap="flat" cmpd="sng" w="12700">
            <a:solidFill>
              <a:srgbClr val="94D2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029200" y="292608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mmbtu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583680" y="2926080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3870x more in legit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937760" y="3429000"/>
            <a:ext cx="384048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4D2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5029200" y="342900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sitara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583680" y="3429000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2348x more in legit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937760" y="3931920"/>
            <a:ext cx="3840480" cy="438912"/>
          </a:xfrm>
          <a:prstGeom prst="rect">
            <a:avLst/>
          </a:prstGeom>
          <a:solidFill>
            <a:srgbClr val="F0FAFA"/>
          </a:solidFill>
          <a:ln cap="flat" cmpd="sng" w="12700">
            <a:solidFill>
              <a:srgbClr val="94D2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5029200" y="393192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volumes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583680" y="3931920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2151x more in legit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Spam mails also average 104 words vs 88 words in legitimate emails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Our ML Strategy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We tested four models and let the data decide the winner.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74320" y="1463040"/>
            <a:ext cx="2011680" cy="13716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274320" y="15087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5,172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74320" y="23317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Full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2286000" y="214884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94D2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5"/>
          <p:cNvSpPr/>
          <p:nvPr/>
        </p:nvSpPr>
        <p:spPr>
          <a:xfrm>
            <a:off x="2423160" y="1463040"/>
            <a:ext cx="2011680" cy="13716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2423160" y="15087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80% / 20%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2423160" y="23317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Train / Test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5"/>
          <p:cNvCxnSpPr/>
          <p:nvPr/>
        </p:nvCxnSpPr>
        <p:spPr>
          <a:xfrm>
            <a:off x="4434840" y="214884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94D2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5"/>
          <p:cNvSpPr/>
          <p:nvPr/>
        </p:nvSpPr>
        <p:spPr>
          <a:xfrm>
            <a:off x="4572000" y="1463040"/>
            <a:ext cx="2011680" cy="13716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572000" y="15087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Models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572000" y="23317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Trained &amp; compared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5"/>
          <p:cNvCxnSpPr/>
          <p:nvPr/>
        </p:nvCxnSpPr>
        <p:spPr>
          <a:xfrm>
            <a:off x="6583680" y="214884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94D2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5"/>
          <p:cNvSpPr/>
          <p:nvPr/>
        </p:nvSpPr>
        <p:spPr>
          <a:xfrm>
            <a:off x="6720840" y="1463040"/>
            <a:ext cx="2011680" cy="13716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720840" y="15087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720840" y="23317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Saved for 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Models compared: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65760" y="3520440"/>
            <a:ext cx="4023360" cy="530352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57200" y="352044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468880" y="352044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Main model — fast &amp; accurate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65760" y="4160520"/>
            <a:ext cx="4023360" cy="530352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57200" y="416052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Naive Bayes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468880" y="416052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Classic spam filter algorithm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663440" y="3520440"/>
            <a:ext cx="4023360" cy="530352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4754880" y="352044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766560" y="352044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Ensemble of decision trees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663440" y="4160520"/>
            <a:ext cx="4023360" cy="530352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4754880" y="416052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KNN + PCA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766560" y="416052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Distance-based + dimensionality reduction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The Threshold Effect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confident does the model need to be before flagging an email as spam?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20040" y="1417320"/>
            <a:ext cx="1920240" cy="4572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320040" y="14173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Threshold 0.5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20040" y="1920240"/>
            <a:ext cx="192024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20040" y="20116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20040" y="23317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97.8%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20040" y="28346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Legit flagged as spam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20040" y="31089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19 emails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20040" y="35204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Spam missed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20040" y="37947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 emails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468880" y="1417320"/>
            <a:ext cx="1920240" cy="457200"/>
          </a:xfrm>
          <a:prstGeom prst="rect">
            <a:avLst/>
          </a:prstGeom>
          <a:solidFill>
            <a:srgbClr val="E07800"/>
          </a:solidFill>
          <a:ln cap="flat" cmpd="sng" w="12700">
            <a:solidFill>
              <a:srgbClr val="E0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2468880" y="14173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Threshold 0.6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468880" y="1920240"/>
            <a:ext cx="192024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2468880" y="20116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468880" y="23317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8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07800"/>
                </a:solidFill>
                <a:latin typeface="Calibri"/>
                <a:ea typeface="Calibri"/>
                <a:cs typeface="Calibri"/>
                <a:sym typeface="Calibri"/>
              </a:rPr>
              <a:t>98.0%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468880" y="28346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Legit flagged as spam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468880" y="31089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15 emails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468880" y="35204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Spam missed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468880" y="37947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 emails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617720" y="1417320"/>
            <a:ext cx="1920240" cy="4572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617720" y="14173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Threshold 0.7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617720" y="1920240"/>
            <a:ext cx="192024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617720" y="20116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617720" y="23317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98.2%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617720" y="28346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Legit flagged as spam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617720" y="31089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8 emails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617720" y="35204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Spam missed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617720" y="37947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11 emails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766560" y="1417320"/>
            <a:ext cx="1920240" cy="4572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766560" y="14173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Threshold 0.8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766560" y="1920240"/>
            <a:ext cx="192024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766560" y="20116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766560" y="23317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98.2%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766560" y="28346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Legit flagged as spam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766560" y="31089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8 emails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766560" y="35204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Spam missed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766560" y="37947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11 emails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We chose 0.8 — better to let a few spam through than to block real emails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Filter in Action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SPAM  (spam score &gt; 80%)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65760" y="1481328"/>
            <a:ext cx="3931920" cy="502920"/>
          </a:xfrm>
          <a:prstGeom prst="rect">
            <a:avLst/>
          </a:prstGeom>
          <a:solidFill>
            <a:srgbClr val="1A0A0A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457200" y="1481328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B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B3B3"/>
                </a:solidFill>
                <a:latin typeface="Calibri"/>
                <a:ea typeface="Calibri"/>
                <a:cs typeface="Calibri"/>
                <a:sym typeface="Calibri"/>
              </a:rPr>
              <a:t>"Free money! Click here to claim your prize..."  — 92%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365760" y="2075688"/>
            <a:ext cx="3931920" cy="502920"/>
          </a:xfrm>
          <a:prstGeom prst="rect">
            <a:avLst/>
          </a:prstGeom>
          <a:solidFill>
            <a:srgbClr val="1A0A0A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457200" y="2075688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B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B3B3"/>
                </a:solidFill>
                <a:latin typeface="Calibri"/>
                <a:ea typeface="Calibri"/>
                <a:cs typeface="Calibri"/>
                <a:sym typeface="Calibri"/>
              </a:rPr>
              <a:t>"Buy cheap viagra online free pills..."  — 98%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365760" y="2670048"/>
            <a:ext cx="3931920" cy="502920"/>
          </a:xfrm>
          <a:prstGeom prst="rect">
            <a:avLst/>
          </a:prstGeom>
          <a:solidFill>
            <a:srgbClr val="1A0A0A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57200" y="2670048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B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B3B3"/>
                </a:solidFill>
                <a:latin typeface="Calibri"/>
                <a:ea typeface="Calibri"/>
                <a:cs typeface="Calibri"/>
                <a:sym typeface="Calibri"/>
              </a:rPr>
              <a:t>"Congratulations you have won an iPhone..."  — 85%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LEGITIMATE  (spam score &lt; 80%)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846320" y="1481328"/>
            <a:ext cx="3931920" cy="502920"/>
          </a:xfrm>
          <a:prstGeom prst="rect">
            <a:avLst/>
          </a:prstGeom>
          <a:solidFill>
            <a:srgbClr val="0A1A0A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937760" y="1481328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FFB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3FFB3"/>
                </a:solidFill>
                <a:latin typeface="Calibri"/>
                <a:ea typeface="Calibri"/>
                <a:cs typeface="Calibri"/>
                <a:sym typeface="Calibri"/>
              </a:rPr>
              <a:t>"Please find attached the Enron report..."  — 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846320" y="2075688"/>
            <a:ext cx="3931920" cy="502920"/>
          </a:xfrm>
          <a:prstGeom prst="rect">
            <a:avLst/>
          </a:prstGeom>
          <a:solidFill>
            <a:srgbClr val="0A1A0A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937760" y="2075688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FFB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3FFB3"/>
                </a:solidFill>
                <a:latin typeface="Calibri"/>
                <a:ea typeface="Calibri"/>
                <a:cs typeface="Calibri"/>
                <a:sym typeface="Calibri"/>
              </a:rPr>
              <a:t>"Can we schedule a meeting to discuss..."  — 31%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846320" y="2670048"/>
            <a:ext cx="3931920" cy="502920"/>
          </a:xfrm>
          <a:prstGeom prst="rect">
            <a:avLst/>
          </a:prstGeom>
          <a:solidFill>
            <a:srgbClr val="0A1A0A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937760" y="2670048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FFB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3FFB3"/>
                </a:solidFill>
                <a:latin typeface="Calibri"/>
                <a:ea typeface="Calibri"/>
                <a:cs typeface="Calibri"/>
                <a:sym typeface="Calibri"/>
              </a:rPr>
              <a:t>"The gas volume needs to be confirmed..."  — 37%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Interactive mode: type any email → instant spam 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371600" y="3794760"/>
            <a:ext cx="6400800" cy="685800"/>
          </a:xfrm>
          <a:prstGeom prst="rect">
            <a:avLst/>
          </a:prstGeom>
          <a:solidFill>
            <a:srgbClr val="0D2233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1463040" y="3794760"/>
            <a:ext cx="6217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A9396"/>
                </a:solidFill>
                <a:latin typeface="Consolas"/>
                <a:ea typeface="Consolas"/>
                <a:cs typeface="Consolas"/>
                <a:sym typeface="Consolas"/>
              </a:rPr>
              <a:t>&gt; Your email:  "Nigerian prince needs your help..."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SPAM DETECTED!  (96.4% spam probability)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9396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We Built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65760" y="1280160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365760" y="1280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051560" y="123444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Explored 5,172 real Enron emails and found clear patterns in spam vs legitimate mail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365760" y="2103120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365760" y="2103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051560" y="205740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Trained 4 machine learning models — Logistic Regression achieved 98.2% accuracy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65760" y="2926080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365760" y="2926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051560" y="28803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Tuned the threshold to 0.8 to minimize false positives (legitimate emails blocked)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65760" y="3749040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65760" y="3749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051560" y="3703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an interactive filter that classifies any new email in real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Logistic Regression · Naive Bayes · Random Forest · KNN + PCA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2026-05-08T11:21:01Z</dcterms:created>
  <dc:creator>PptxGenJS</dc:creator>
</cp:coreProperties>
</file>